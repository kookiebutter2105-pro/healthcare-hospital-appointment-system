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handoutMasterIdLst>
    <p:handoutMasterId r:id="rId20"/>
  </p:handoutMasterIdLst>
  <p:sldIdLst>
    <p:sldId id="275" r:id="rId2"/>
    <p:sldId id="388" r:id="rId3"/>
    <p:sldId id="391" r:id="rId4"/>
    <p:sldId id="392" r:id="rId5"/>
    <p:sldId id="393" r:id="rId6"/>
    <p:sldId id="394" r:id="rId7"/>
    <p:sldId id="395" r:id="rId8"/>
    <p:sldId id="396" r:id="rId9"/>
    <p:sldId id="397" r:id="rId10"/>
    <p:sldId id="398" r:id="rId11"/>
    <p:sldId id="399" r:id="rId12"/>
    <p:sldId id="400" r:id="rId13"/>
    <p:sldId id="402" r:id="rId14"/>
    <p:sldId id="403" r:id="rId15"/>
    <p:sldId id="404" r:id="rId16"/>
    <p:sldId id="405" r:id="rId17"/>
    <p:sldId id="401"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6E3412-AAFE-4D7B-B270-21DA8E367A61}" v="4" dt="2025-10-29T04:43:02.7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27" autoAdjust="0"/>
    <p:restoredTop sz="94590" autoAdjust="0"/>
  </p:normalViewPr>
  <p:slideViewPr>
    <p:cSldViewPr showGuides="1">
      <p:cViewPr varScale="1">
        <p:scale>
          <a:sx n="76" d="100"/>
          <a:sy n="76" d="100"/>
        </p:scale>
        <p:origin x="1216"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t>12/18/2025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t>12/18/2025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238FA3-189B-4AA8-9E46-1FED810FB611}"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3BD94B3-44B9-44B7-85A7-F056FA607D46}" type="datetime3">
              <a:rPr lang="en-US" smtClean="0"/>
              <a:t>18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7275DB-6D13-480B-AC77-F5019BDC5287}" type="datetime3">
              <a:rPr lang="en-US" smtClean="0"/>
              <a:t>18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2A365F-315E-4D26-B736-3944439F5E09}" type="datetime3">
              <a:rPr lang="en-US" smtClean="0"/>
              <a:t>18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B1E7AE-CF1A-4AE7-BD2C-F950D278A3DB}" type="datetime3">
              <a:rPr lang="en-US" smtClean="0"/>
              <a:t>18 December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C6D51F8-804C-441D-85CA-D64DC6F78406}" type="datetime3">
              <a:rPr lang="en-US" smtClean="0"/>
              <a:t>18 December 2025</a:t>
            </a:fld>
            <a:endParaRPr lang="en-US"/>
          </a:p>
        </p:txBody>
      </p:sp>
      <p:sp>
        <p:nvSpPr>
          <p:cNvPr id="8" name="Footer Placeholder 7"/>
          <p:cNvSpPr>
            <a:spLocks noGrp="1"/>
          </p:cNvSpPr>
          <p:nvPr>
            <p:ph type="ftr" sz="quarter" idx="11"/>
          </p:nvPr>
        </p:nvSpPr>
        <p:spPr/>
        <p:txBody>
          <a:bodyPr/>
          <a:lstStyle/>
          <a:p>
            <a:r>
              <a:rPr lang="en-US"/>
              <a:t>School of Computing - CSE</a:t>
            </a:r>
          </a:p>
        </p:txBody>
      </p:sp>
      <p:sp>
        <p:nvSpPr>
          <p:cNvPr id="9" name="Slide Number Placeholder 8"/>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97CCCDB-4457-4C48-985F-BD1C33DF88D2}" type="datetime3">
              <a:rPr lang="en-US" smtClean="0"/>
              <a:t>18 December 2025</a:t>
            </a:fld>
            <a:endParaRPr lang="en-US"/>
          </a:p>
        </p:txBody>
      </p:sp>
      <p:sp>
        <p:nvSpPr>
          <p:cNvPr id="4" name="Footer Placeholder 3"/>
          <p:cNvSpPr>
            <a:spLocks noGrp="1"/>
          </p:cNvSpPr>
          <p:nvPr>
            <p:ph type="ftr" sz="quarter" idx="11"/>
          </p:nvPr>
        </p:nvSpPr>
        <p:spPr/>
        <p:txBody>
          <a:bodyPr/>
          <a:lstStyle/>
          <a:p>
            <a:r>
              <a:rPr lang="en-US"/>
              <a:t>School of Computing - CSE</a:t>
            </a:r>
          </a:p>
        </p:txBody>
      </p:sp>
      <p:sp>
        <p:nvSpPr>
          <p:cNvPr id="5" name="Slide Number Placeholder 4"/>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3F4AF7E-7813-4879-8B55-5575B0080D39}" type="datetime3">
              <a:rPr lang="en-US" smtClean="0"/>
              <a:t>18 December 2025</a:t>
            </a:fld>
            <a:endParaRPr lang="en-US"/>
          </a:p>
        </p:txBody>
      </p:sp>
      <p:sp>
        <p:nvSpPr>
          <p:cNvPr id="3" name="Footer Placeholder 2"/>
          <p:cNvSpPr>
            <a:spLocks noGrp="1"/>
          </p:cNvSpPr>
          <p:nvPr>
            <p:ph type="ftr" sz="quarter" idx="11"/>
          </p:nvPr>
        </p:nvSpPr>
        <p:spPr/>
        <p:txBody>
          <a:bodyPr/>
          <a:lstStyle/>
          <a:p>
            <a:r>
              <a:rPr lang="en-US"/>
              <a:t>School of Computing - CSE</a:t>
            </a:r>
          </a:p>
        </p:txBody>
      </p:sp>
      <p:sp>
        <p:nvSpPr>
          <p:cNvPr id="4" name="Slide Number Placeholder 3"/>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9EC94D0-F97F-48E4-A142-9DA614267486}" type="datetime3">
              <a:rPr lang="en-US" smtClean="0"/>
              <a:t>18 December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7DA9B2-FBCA-4233-9590-C0754509BDB5}" type="datetime3">
              <a:rPr lang="en-US" smtClean="0"/>
              <a:t>18 December 2025</a:t>
            </a:fld>
            <a:endParaRPr lang="en-US"/>
          </a:p>
        </p:txBody>
      </p:sp>
      <p:sp>
        <p:nvSpPr>
          <p:cNvPr id="6" name="Footer Placeholder 5"/>
          <p:cNvSpPr>
            <a:spLocks noGrp="1"/>
          </p:cNvSpPr>
          <p:nvPr>
            <p:ph type="ftr" sz="quarter" idx="11"/>
          </p:nvPr>
        </p:nvSpPr>
        <p:spPr/>
        <p:txBody>
          <a:bodyPr/>
          <a:lstStyle/>
          <a:p>
            <a:r>
              <a:rPr lang="en-US"/>
              <a:t>School of Computing - CSE</a:t>
            </a:r>
          </a:p>
        </p:txBody>
      </p:sp>
      <p:sp>
        <p:nvSpPr>
          <p:cNvPr id="7" name="Slide Number Placeholder 6"/>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B910C5-081D-4FA6-9B78-BB56BEB475DD}" type="datetime3">
              <a:rPr lang="en-US" smtClean="0"/>
              <a:t>18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8360AF-72BE-4445-B200-736511B20555}" type="datetime3">
              <a:rPr lang="en-US" smtClean="0"/>
              <a:t>18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5259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noFill/>
          <a:ln>
            <a:noFill/>
          </a:ln>
          <a:effectLst>
            <a:outerShdw blurRad="50800" dist="50800" dir="5400000" algn="ctr" rotWithShape="0">
              <a:schemeClr val="bg1"/>
            </a:outerShdw>
          </a:effectLst>
        </p:spPr>
        <p:txBody>
          <a:bodyPr/>
          <a:lstStyle>
            <a:lvl1pPr>
              <a:defRPr>
                <a:solidFill>
                  <a:schemeClr val="accent6">
                    <a:lumMod val="50000"/>
                  </a:schemeClr>
                </a:solidFill>
              </a:defRPr>
            </a:lvl1pPr>
          </a:lstStyle>
          <a:p>
            <a:fld id="{10B6530B-5C68-4965-B8A9-8C18D26903BD}" type="datetime3">
              <a:rPr lang="en-US" smtClean="0"/>
              <a:t>18 December 2025</a:t>
            </a:fld>
            <a:endParaRPr lang="en-US" dirty="0"/>
          </a:p>
        </p:txBody>
      </p:sp>
      <p:sp>
        <p:nvSpPr>
          <p:cNvPr id="5" name="Footer Placeholder 4"/>
          <p:cNvSpPr>
            <a:spLocks noGrp="1"/>
          </p:cNvSpPr>
          <p:nvPr>
            <p:ph type="ftr" sz="quarter" idx="11"/>
          </p:nvPr>
        </p:nvSpPr>
        <p:spPr/>
        <p:txBody>
          <a:bodyPr/>
          <a:lstStyle>
            <a:lvl1pPr>
              <a:defRPr>
                <a:solidFill>
                  <a:schemeClr val="accent6">
                    <a:lumMod val="50000"/>
                  </a:schemeClr>
                </a:solidFill>
              </a:defRPr>
            </a:lvl1pPr>
          </a:lstStyle>
          <a:p>
            <a:r>
              <a:rPr lang="en-US"/>
              <a:t>School of Computing - CSE</a:t>
            </a:r>
            <a:endParaRPr lang="en-US" dirty="0"/>
          </a:p>
        </p:txBody>
      </p:sp>
      <p:sp>
        <p:nvSpPr>
          <p:cNvPr id="6" name="Slide Number Placeholder 5"/>
          <p:cNvSpPr>
            <a:spLocks noGrp="1"/>
          </p:cNvSpPr>
          <p:nvPr>
            <p:ph type="sldNum" sz="quarter" idx="12"/>
          </p:nvPr>
        </p:nvSpPr>
        <p:spPr/>
        <p:txBody>
          <a:bodyPr/>
          <a:lstStyle>
            <a:lvl1pPr>
              <a:defRPr>
                <a:solidFill>
                  <a:schemeClr val="accent6">
                    <a:lumMod val="50000"/>
                  </a:schemeClr>
                </a:solidFill>
              </a:defRPr>
            </a:lvl1pPr>
          </a:lstStyle>
          <a:p>
            <a:fld id="{C0EC1BDC-9B67-430D-970A-E36C75175141}"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4D4881-3C1B-4E10-8E47-87CE42F43D14}" type="datetime3">
              <a:rPr lang="en-US" smtClean="0"/>
              <a:t>18 December 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School of Computing - CSE</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571500" y="1956917"/>
            <a:ext cx="8115300" cy="1243484"/>
          </a:xfrm>
        </p:spPr>
        <p:txBody>
          <a:bodyPr>
            <a:normAutofit/>
          </a:bodyPr>
          <a:lstStyle/>
          <a:p>
            <a:br>
              <a:rPr lang="en-IN" sz="2000" dirty="0">
                <a:solidFill>
                  <a:schemeClr val="accent1">
                    <a:lumMod val="50000"/>
                  </a:schemeClr>
                </a:solidFill>
                <a:latin typeface="Arial" panose="020B0604020202020204" pitchFamily="34" charset="0"/>
                <a:cs typeface="Arial" panose="020B0604020202020204" pitchFamily="34" charset="0"/>
              </a:rPr>
            </a:br>
            <a:br>
              <a:rPr lang="en-IN" sz="2400" dirty="0">
                <a:solidFill>
                  <a:schemeClr val="accent1">
                    <a:lumMod val="50000"/>
                  </a:schemeClr>
                </a:solidFill>
                <a:latin typeface="Arial" panose="020B0604020202020204" pitchFamily="34" charset="0"/>
                <a:cs typeface="Arial" panose="020B0604020202020204" pitchFamily="34" charset="0"/>
              </a:rPr>
            </a:br>
            <a:endParaRPr lang="en-US" sz="2400" dirty="0">
              <a:solidFill>
                <a:schemeClr val="accent1">
                  <a:lumMod val="50000"/>
                </a:schemeClr>
              </a:solidFill>
              <a:latin typeface="Arial" panose="020B0604020202020204" pitchFamily="34" charset="0"/>
              <a:cs typeface="Arial" panose="020B0604020202020204" pitchFamily="34" charset="0"/>
            </a:endParaRPr>
          </a:p>
        </p:txBody>
      </p:sp>
      <p:sp>
        <p:nvSpPr>
          <p:cNvPr id="17" name="Subtitle 2"/>
          <p:cNvSpPr>
            <a:spLocks noGrp="1"/>
          </p:cNvSpPr>
          <p:nvPr>
            <p:ph type="subTitle" idx="1"/>
          </p:nvPr>
        </p:nvSpPr>
        <p:spPr>
          <a:xfrm>
            <a:off x="1293627" y="3512438"/>
            <a:ext cx="6709143" cy="885409"/>
          </a:xfrm>
        </p:spPr>
        <p:txBody>
          <a:bodyPr>
            <a:normAutofit/>
          </a:bodyPr>
          <a:lstStyle/>
          <a:p>
            <a:r>
              <a:rPr lang="en-US" sz="2000" b="1" dirty="0">
                <a:solidFill>
                  <a:schemeClr val="tx1"/>
                </a:solidFill>
                <a:latin typeface="Arial" panose="020B0604020202020204" pitchFamily="34" charset="0"/>
                <a:cs typeface="Arial" panose="020B0604020202020204" pitchFamily="34" charset="0"/>
              </a:rPr>
              <a:t>HEALTHCARE+:HOSPITAL APPOINTMENT SYSTEM</a:t>
            </a:r>
          </a:p>
        </p:txBody>
      </p:sp>
      <p:sp>
        <p:nvSpPr>
          <p:cNvPr id="4" name="Date Placeholder 3"/>
          <p:cNvSpPr>
            <a:spLocks noGrp="1"/>
          </p:cNvSpPr>
          <p:nvPr>
            <p:ph type="dt" sz="half" idx="10"/>
          </p:nvPr>
        </p:nvSpPr>
        <p:spPr>
          <a:effectLst>
            <a:outerShdw blurRad="50800" dist="50800" dir="5400000" algn="ctr" rotWithShape="0">
              <a:schemeClr val="bg1"/>
            </a:outerShdw>
          </a:effectLst>
        </p:spPr>
        <p:txBody>
          <a:bodyPr/>
          <a:lstStyle/>
          <a:p>
            <a:fld id="{264FFBAA-9A17-4F9A-B1BD-20F0F5B52AB6}" type="datetime3">
              <a:rPr lang="en-US" smtClean="0"/>
              <a:t>18 December 2025</a:t>
            </a:fld>
            <a:endParaRPr lang="en-US" dirty="0"/>
          </a:p>
        </p:txBody>
      </p:sp>
      <p:sp>
        <p:nvSpPr>
          <p:cNvPr id="6" name="Footer Placeholder 5"/>
          <p:cNvSpPr>
            <a:spLocks noGrp="1"/>
          </p:cNvSpPr>
          <p:nvPr>
            <p:ph type="ftr" sz="quarter" idx="11"/>
          </p:nvPr>
        </p:nvSpPr>
        <p:spPr/>
        <p:txBody>
          <a:bodyPr/>
          <a:lstStyle/>
          <a:p>
            <a:r>
              <a:rPr lang="en-US" dirty="0"/>
              <a:t>School of Computing - CSE</a:t>
            </a:r>
          </a:p>
        </p:txBody>
      </p:sp>
      <p:sp>
        <p:nvSpPr>
          <p:cNvPr id="5" name="Slide Number Placeholder 4"/>
          <p:cNvSpPr>
            <a:spLocks noGrp="1"/>
          </p:cNvSpPr>
          <p:nvPr>
            <p:ph type="sldNum" sz="quarter" idx="12"/>
          </p:nvPr>
        </p:nvSpPr>
        <p:spPr/>
        <p:txBody>
          <a:bodyPr/>
          <a:lstStyle/>
          <a:p>
            <a:fld id="{C0EC1BDC-9B67-430D-970A-E36C75175141}" type="slidenum">
              <a:rPr lang="en-US" smtClean="0"/>
              <a:t>1</a:t>
            </a:fld>
            <a:endParaRPr lang="en-US"/>
          </a:p>
        </p:txBody>
      </p:sp>
      <p:pic>
        <p:nvPicPr>
          <p:cNvPr id="3" name="image2.jpeg"/>
          <p:cNvPicPr/>
          <p:nvPr/>
        </p:nvPicPr>
        <p:blipFill>
          <a:blip r:embed="rId3" cstate="print"/>
          <a:stretch>
            <a:fillRect/>
          </a:stretch>
        </p:blipFill>
        <p:spPr>
          <a:xfrm>
            <a:off x="304800" y="136525"/>
            <a:ext cx="8610600" cy="1696686"/>
          </a:xfrm>
          <a:prstGeom prst="rect">
            <a:avLst/>
          </a:prstGeom>
          <a:ln>
            <a:solidFill>
              <a:srgbClr val="002060"/>
            </a:solidFill>
          </a:ln>
        </p:spPr>
      </p:pic>
      <p:sp>
        <p:nvSpPr>
          <p:cNvPr id="14" name="TextBox 13"/>
          <p:cNvSpPr txBox="1"/>
          <p:nvPr/>
        </p:nvSpPr>
        <p:spPr>
          <a:xfrm>
            <a:off x="342898" y="2024316"/>
            <a:ext cx="8610599" cy="984885"/>
          </a:xfrm>
          <a:prstGeom prst="rect">
            <a:avLst/>
          </a:prstGeom>
          <a:noFill/>
        </p:spPr>
        <p:txBody>
          <a:bodyPr wrap="square">
            <a:spAutoFit/>
          </a:bodyPr>
          <a:lstStyle/>
          <a:p>
            <a:pPr algn="ctr"/>
            <a:r>
              <a:rPr lang="en-IN" sz="2000" b="1" dirty="0">
                <a:latin typeface="Arial" panose="020B0604020202020204" pitchFamily="34" charset="0"/>
                <a:cs typeface="Arial" panose="020B0604020202020204" pitchFamily="34" charset="0"/>
              </a:rPr>
              <a:t>DEPARTMENT OF COMPUTER SCIENCE AND ENGINEERING</a:t>
            </a:r>
          </a:p>
          <a:p>
            <a:pPr algn="ctr"/>
            <a:endParaRPr lang="en-IN" sz="2000" b="1" dirty="0">
              <a:latin typeface="Arial" panose="020B0604020202020204" pitchFamily="34" charset="0"/>
              <a:cs typeface="Arial" panose="020B0604020202020204" pitchFamily="34" charset="0"/>
            </a:endParaRPr>
          </a:p>
          <a:p>
            <a:pPr algn="ctr"/>
            <a:r>
              <a:rPr lang="en-US" b="1" dirty="0"/>
              <a:t>SKILL ENHANCEMENT PROJECT</a:t>
            </a:r>
          </a:p>
        </p:txBody>
      </p:sp>
      <p:sp>
        <p:nvSpPr>
          <p:cNvPr id="29" name="Subtitle 2"/>
          <p:cNvSpPr txBox="1"/>
          <p:nvPr/>
        </p:nvSpPr>
        <p:spPr>
          <a:xfrm>
            <a:off x="457200" y="4901084"/>
            <a:ext cx="4114799" cy="1455265"/>
          </a:xfrm>
          <a:prstGeom prst="rect">
            <a:avLst/>
          </a:prstGeom>
        </p:spPr>
        <p:txBody>
          <a:bodyPr vert="horz" lIns="91440" tIns="45720" rIns="91440" bIns="45720" rtlCol="0">
            <a:normAutofit fontScale="85000" lnSpcReduction="10000"/>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sz="2400" b="1" dirty="0">
                <a:solidFill>
                  <a:schemeClr val="tx1"/>
                </a:solidFill>
              </a:rPr>
              <a:t>PROJECT STUDENT                                                  </a:t>
            </a:r>
          </a:p>
          <a:p>
            <a:pPr algn="l"/>
            <a:r>
              <a:rPr lang="en-US" sz="2000" b="1" dirty="0">
                <a:solidFill>
                  <a:schemeClr val="tx1"/>
                </a:solidFill>
              </a:rPr>
              <a:t>Sanjana V,  43110811</a:t>
            </a:r>
          </a:p>
          <a:p>
            <a:pPr algn="l"/>
            <a:r>
              <a:rPr lang="en-US" sz="2000" b="1" dirty="0">
                <a:solidFill>
                  <a:schemeClr val="tx1"/>
                </a:solidFill>
              </a:rPr>
              <a:t>Subiksha R,43110897</a:t>
            </a:r>
          </a:p>
          <a:p>
            <a:pPr algn="l"/>
            <a:r>
              <a:rPr lang="en-US" sz="2000" b="1" dirty="0">
                <a:solidFill>
                  <a:schemeClr val="tx1"/>
                </a:solidFill>
              </a:rPr>
              <a:t>Sri Saranya S T S,43110889                         					</a:t>
            </a:r>
            <a:endParaRPr lang="en-GB" sz="20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AGENDA</a:t>
            </a:r>
          </a:p>
        </p:txBody>
      </p:sp>
      <p:sp>
        <p:nvSpPr>
          <p:cNvPr id="3" name="Content Placeholder 2"/>
          <p:cNvSpPr>
            <a:spLocks noGrp="1"/>
          </p:cNvSpPr>
          <p:nvPr>
            <p:ph idx="1"/>
          </p:nvPr>
        </p:nvSpPr>
        <p:spPr>
          <a:xfrm>
            <a:off x="578409" y="1371600"/>
            <a:ext cx="8229600" cy="4525963"/>
          </a:xfrm>
        </p:spPr>
        <p:txBody>
          <a:bodyPr>
            <a:normAutofit fontScale="47500" lnSpcReduction="20000"/>
          </a:bodyPr>
          <a:lstStyle/>
          <a:p>
            <a:pPr marL="0" indent="0">
              <a:buNone/>
            </a:pPr>
            <a:endParaRPr lang="en-US" dirty="0"/>
          </a:p>
          <a:p>
            <a:r>
              <a:rPr lang="en-US" sz="5100" dirty="0"/>
              <a:t>Abstract</a:t>
            </a:r>
          </a:p>
          <a:p>
            <a:r>
              <a:rPr lang="en-US" sz="5100" dirty="0"/>
              <a:t>Existing system</a:t>
            </a:r>
          </a:p>
          <a:p>
            <a:r>
              <a:rPr lang="en-US" sz="5100" dirty="0"/>
              <a:t>Proposed system </a:t>
            </a:r>
          </a:p>
          <a:p>
            <a:r>
              <a:rPr lang="en-US" sz="5100" dirty="0"/>
              <a:t>Advantages</a:t>
            </a:r>
          </a:p>
          <a:p>
            <a:r>
              <a:rPr lang="en-US" sz="5100" dirty="0"/>
              <a:t>Disadvantages</a:t>
            </a:r>
          </a:p>
          <a:p>
            <a:r>
              <a:rPr lang="en-US" sz="5100"/>
              <a:t>Hardware </a:t>
            </a:r>
            <a:r>
              <a:rPr lang="en-US" sz="5100" dirty="0"/>
              <a:t>requirements</a:t>
            </a:r>
          </a:p>
          <a:p>
            <a:r>
              <a:rPr lang="en-US" sz="5100" dirty="0"/>
              <a:t>Software requirements </a:t>
            </a:r>
          </a:p>
          <a:p>
            <a:r>
              <a:rPr lang="en-US" sz="5100" dirty="0"/>
              <a:t>Modules</a:t>
            </a:r>
          </a:p>
          <a:p>
            <a:r>
              <a:rPr lang="en-US" sz="5100" dirty="0"/>
              <a:t>Module description </a:t>
            </a:r>
          </a:p>
          <a:p>
            <a:r>
              <a:rPr lang="en-US" sz="5100" dirty="0"/>
              <a:t>Sample output(screenshot)</a:t>
            </a:r>
          </a:p>
          <a:p>
            <a:r>
              <a:rPr lang="en-US" sz="5100" dirty="0"/>
              <a:t>Conclusion </a:t>
            </a:r>
          </a:p>
          <a:p>
            <a:endParaRPr lang="en-US" dirty="0"/>
          </a:p>
          <a:p>
            <a:endParaRPr lang="en-US" dirty="0"/>
          </a:p>
        </p:txBody>
      </p:sp>
      <p:sp>
        <p:nvSpPr>
          <p:cNvPr id="4" name="Date Placeholder 3"/>
          <p:cNvSpPr>
            <a:spLocks noGrp="1"/>
          </p:cNvSpPr>
          <p:nvPr>
            <p:ph type="dt" sz="half" idx="10"/>
          </p:nvPr>
        </p:nvSpPr>
        <p:spPr/>
        <p:txBody>
          <a:bodyPr/>
          <a:lstStyle/>
          <a:p>
            <a:fld id="{EB7275DB-6D13-480B-AC77-F5019BDC5287}" type="datetime3">
              <a:rPr lang="en-US" smtClean="0"/>
              <a:t>18 December 2025</a:t>
            </a:fld>
            <a:endParaRPr lang="en-US"/>
          </a:p>
        </p:txBody>
      </p:sp>
      <p:sp>
        <p:nvSpPr>
          <p:cNvPr id="5" name="Footer Placeholder 4"/>
          <p:cNvSpPr>
            <a:spLocks noGrp="1"/>
          </p:cNvSpPr>
          <p:nvPr>
            <p:ph type="ftr" sz="quarter" idx="11"/>
          </p:nvPr>
        </p:nvSpPr>
        <p:spPr/>
        <p:txBody>
          <a:bodyPr/>
          <a:lstStyle/>
          <a:p>
            <a:r>
              <a:rPr lang="en-US"/>
              <a:t>School of Computing - CSE</a:t>
            </a:r>
          </a:p>
        </p:txBody>
      </p:sp>
      <p:sp>
        <p:nvSpPr>
          <p:cNvPr id="6" name="Slide Number Placeholder 5"/>
          <p:cNvSpPr>
            <a:spLocks noGrp="1"/>
          </p:cNvSpPr>
          <p:nvPr>
            <p:ph type="sldNum" sz="quarter" idx="12"/>
          </p:nvPr>
        </p:nvSpPr>
        <p:spPr/>
        <p:txBody>
          <a:bodyPr/>
          <a:lstStyle/>
          <a:p>
            <a:fld id="{7B28076C-CE04-4A00-BFAA-A90EA8355859}"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Abstract</a:t>
            </a:r>
          </a:p>
        </p:txBody>
      </p:sp>
      <p:sp>
        <p:nvSpPr>
          <p:cNvPr id="3" name="Content Placeholder 2"/>
          <p:cNvSpPr>
            <a:spLocks noGrp="1"/>
          </p:cNvSpPr>
          <p:nvPr>
            <p:ph idx="1"/>
          </p:nvPr>
        </p:nvSpPr>
        <p:spPr/>
        <p:txBody>
          <a:bodyPr/>
          <a:lstStyle/>
          <a:p>
            <a:r>
              <a:t>The Hospital Appointment Booking System is a web-based platform that allows users to select their city and view a filtered list of available hospitals. The system provides an easy and efficient way for users to book appointments with doctors based on their location, availability, and specialization. It reduces manual work, saves time, and enhances healthcare accessibility.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Existing System</a:t>
            </a:r>
          </a:p>
        </p:txBody>
      </p:sp>
      <p:sp>
        <p:nvSpPr>
          <p:cNvPr id="3" name="Content Placeholder 2"/>
          <p:cNvSpPr>
            <a:spLocks noGrp="1"/>
          </p:cNvSpPr>
          <p:nvPr>
            <p:ph idx="1"/>
          </p:nvPr>
        </p:nvSpPr>
        <p:spPr/>
        <p:txBody>
          <a:bodyPr>
            <a:normAutofit lnSpcReduction="10000"/>
          </a:bodyPr>
          <a:lstStyle/>
          <a:p>
            <a:r>
              <a:rPr dirty="0"/>
              <a:t>In the existing system, hospital appointment booking is often done manually or through individual hospital websites. </a:t>
            </a:r>
            <a:endParaRPr lang="en-IN" dirty="0"/>
          </a:p>
          <a:p>
            <a:r>
              <a:rPr dirty="0"/>
              <a:t>Users have to visit multiple websites or physically visit hospitals to check doctor availability, which is time-consuming. </a:t>
            </a:r>
            <a:endParaRPr lang="en-IN" dirty="0"/>
          </a:p>
          <a:p>
            <a:r>
              <a:rPr dirty="0"/>
              <a:t>Data management and appointment tracking are also inefficient, leading to patient inconvenience.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Proposed System</a:t>
            </a:r>
          </a:p>
        </p:txBody>
      </p:sp>
      <p:sp>
        <p:nvSpPr>
          <p:cNvPr id="3" name="Content Placeholder 2"/>
          <p:cNvSpPr>
            <a:spLocks noGrp="1"/>
          </p:cNvSpPr>
          <p:nvPr>
            <p:ph idx="1"/>
          </p:nvPr>
        </p:nvSpPr>
        <p:spPr/>
        <p:txBody>
          <a:bodyPr>
            <a:normAutofit lnSpcReduction="10000"/>
          </a:bodyPr>
          <a:lstStyle/>
          <a:p>
            <a:r>
              <a:rPr dirty="0"/>
              <a:t>The proposed system automates hospital appointment booking through a centralized platform. </a:t>
            </a:r>
            <a:endParaRPr lang="en-IN" dirty="0"/>
          </a:p>
          <a:p>
            <a:r>
              <a:rPr dirty="0"/>
              <a:t>Users can select their city, filter hospitals, view available doctors, and book appointments instantly. </a:t>
            </a:r>
            <a:endParaRPr lang="en-IN" dirty="0"/>
          </a:p>
          <a:p>
            <a:r>
              <a:rPr dirty="0"/>
              <a:t>The system provides real-time updates, confirmation messages, and efficient hospital-patient communication.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a:t>
            </a:r>
          </a:p>
        </p:txBody>
      </p:sp>
      <p:sp>
        <p:nvSpPr>
          <p:cNvPr id="3" name="Content Placeholder 2"/>
          <p:cNvSpPr>
            <a:spLocks noGrp="1"/>
          </p:cNvSpPr>
          <p:nvPr>
            <p:ph idx="1"/>
          </p:nvPr>
        </p:nvSpPr>
        <p:spPr/>
        <p:txBody>
          <a:bodyPr/>
          <a:lstStyle/>
          <a:p>
            <a:pPr marL="0" indent="0">
              <a:buNone/>
            </a:pPr>
            <a:r>
              <a:rPr dirty="0"/>
              <a:t>1. User-friendly and time-saving.</a:t>
            </a:r>
          </a:p>
          <a:p>
            <a:pPr marL="0" indent="0">
              <a:buNone/>
            </a:pPr>
            <a:r>
              <a:rPr dirty="0"/>
              <a:t>2. Centralized platform for hospital data.</a:t>
            </a:r>
          </a:p>
          <a:p>
            <a:pPr marL="0" indent="0">
              <a:buNone/>
            </a:pPr>
            <a:r>
              <a:rPr dirty="0"/>
              <a:t>3. Real-time appointment booking and tracking.</a:t>
            </a:r>
          </a:p>
          <a:p>
            <a:pPr marL="0" indent="0">
              <a:buNone/>
            </a:pPr>
            <a:r>
              <a:rPr dirty="0"/>
              <a:t>4. Reduces manual work and human errors.</a:t>
            </a:r>
          </a:p>
          <a:p>
            <a:pPr marL="0" indent="0">
              <a:buNone/>
            </a:pPr>
            <a:r>
              <a:rPr dirty="0"/>
              <a:t>5. Enhances healthcare accessibility for all users.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Disadvantages</a:t>
            </a:r>
          </a:p>
        </p:txBody>
      </p:sp>
      <p:sp>
        <p:nvSpPr>
          <p:cNvPr id="3" name="Content Placeholder 2"/>
          <p:cNvSpPr>
            <a:spLocks noGrp="1"/>
          </p:cNvSpPr>
          <p:nvPr>
            <p:ph idx="1"/>
          </p:nvPr>
        </p:nvSpPr>
        <p:spPr/>
        <p:txBody>
          <a:bodyPr/>
          <a:lstStyle/>
          <a:p>
            <a:pPr marL="0" indent="0">
              <a:buNone/>
            </a:pPr>
            <a:r>
              <a:rPr dirty="0"/>
              <a:t>1. Requires internet connectivity.</a:t>
            </a:r>
          </a:p>
          <a:p>
            <a:pPr marL="0" indent="0">
              <a:buNone/>
            </a:pPr>
            <a:r>
              <a:rPr dirty="0"/>
              <a:t>2. Limited functionality if server downtime occurs.</a:t>
            </a:r>
          </a:p>
          <a:p>
            <a:pPr marL="0" indent="0">
              <a:buNone/>
            </a:pPr>
            <a:r>
              <a:rPr dirty="0"/>
              <a:t>3. Initial setup and maintenance costs for hospitals.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Hardware Requirements</a:t>
            </a:r>
          </a:p>
        </p:txBody>
      </p:sp>
      <p:sp>
        <p:nvSpPr>
          <p:cNvPr id="3" name="Content Placeholder 2"/>
          <p:cNvSpPr>
            <a:spLocks noGrp="1"/>
          </p:cNvSpPr>
          <p:nvPr>
            <p:ph idx="1"/>
          </p:nvPr>
        </p:nvSpPr>
        <p:spPr/>
        <p:txBody>
          <a:bodyPr/>
          <a:lstStyle/>
          <a:p>
            <a:pPr marL="0" indent="0">
              <a:buNone/>
            </a:pPr>
            <a:r>
              <a:rPr dirty="0"/>
              <a:t>• Processor: Intel i3 or higher</a:t>
            </a:r>
          </a:p>
          <a:p>
            <a:pPr marL="0" indent="0">
              <a:buNone/>
            </a:pPr>
            <a:r>
              <a:rPr dirty="0"/>
              <a:t>• RAM: 4GB minimum</a:t>
            </a:r>
          </a:p>
          <a:p>
            <a:pPr marL="0" indent="0">
              <a:buNone/>
            </a:pPr>
            <a:r>
              <a:rPr dirty="0"/>
              <a:t>• Hard Disk: 100GB</a:t>
            </a:r>
          </a:p>
          <a:p>
            <a:pPr marL="0" indent="0">
              <a:buNone/>
            </a:pPr>
            <a:r>
              <a:rPr dirty="0"/>
              <a:t>• Monitor: 15” LED</a:t>
            </a:r>
          </a:p>
          <a:p>
            <a:pPr marL="0" indent="0">
              <a:buNone/>
            </a:pPr>
            <a:r>
              <a:rPr dirty="0"/>
              <a:t>• Keyboard and Mouse</a:t>
            </a:r>
          </a:p>
          <a:p>
            <a:pPr marL="0" indent="0">
              <a:buNone/>
            </a:pPr>
            <a:r>
              <a:rPr dirty="0"/>
              <a:t>• Internet Connection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Software Requirements</a:t>
            </a:r>
          </a:p>
        </p:txBody>
      </p:sp>
      <p:sp>
        <p:nvSpPr>
          <p:cNvPr id="3" name="Content Placeholder 2"/>
          <p:cNvSpPr>
            <a:spLocks noGrp="1"/>
          </p:cNvSpPr>
          <p:nvPr>
            <p:ph idx="1"/>
          </p:nvPr>
        </p:nvSpPr>
        <p:spPr/>
        <p:txBody>
          <a:bodyPr/>
          <a:lstStyle/>
          <a:p>
            <a:pPr marL="0" indent="0">
              <a:buNone/>
            </a:pPr>
            <a:r>
              <a:rPr dirty="0"/>
              <a:t>• Operating System: Windows </a:t>
            </a:r>
          </a:p>
          <a:p>
            <a:pPr marL="0" indent="0">
              <a:buNone/>
            </a:pPr>
            <a:r>
              <a:rPr dirty="0"/>
              <a:t>• Frontend: HTML, CSS, JavaScript, React</a:t>
            </a:r>
          </a:p>
          <a:p>
            <a:pPr marL="0" indent="0">
              <a:buNone/>
            </a:pPr>
            <a:r>
              <a:rPr dirty="0"/>
              <a:t>• Backend: Node.js </a:t>
            </a:r>
          </a:p>
          <a:p>
            <a:pPr marL="0" indent="0">
              <a:buNone/>
            </a:pPr>
            <a:r>
              <a:rPr dirty="0"/>
              <a:t>• Database: MongoDB</a:t>
            </a:r>
          </a:p>
          <a:p>
            <a:pPr marL="0" indent="0">
              <a:buNone/>
            </a:pPr>
            <a:r>
              <a:rPr dirty="0"/>
              <a:t>• IDE: VS Code</a:t>
            </a:r>
          </a:p>
          <a:p>
            <a:pPr marL="0" indent="0">
              <a:buNone/>
            </a:pPr>
            <a:r>
              <a:rPr dirty="0"/>
              <a:t>• Browser: Chrome or Edge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Modules</a:t>
            </a:r>
          </a:p>
        </p:txBody>
      </p:sp>
      <p:sp>
        <p:nvSpPr>
          <p:cNvPr id="3" name="Content Placeholder 2"/>
          <p:cNvSpPr>
            <a:spLocks noGrp="1"/>
          </p:cNvSpPr>
          <p:nvPr>
            <p:ph idx="1"/>
          </p:nvPr>
        </p:nvSpPr>
        <p:spPr/>
        <p:txBody>
          <a:bodyPr/>
          <a:lstStyle/>
          <a:p>
            <a:pPr marL="0" indent="0">
              <a:buNone/>
            </a:pPr>
            <a:r>
              <a:rPr dirty="0"/>
              <a:t>1. User Module</a:t>
            </a:r>
          </a:p>
          <a:p>
            <a:pPr marL="0" indent="0">
              <a:buNone/>
            </a:pPr>
            <a:r>
              <a:rPr dirty="0"/>
              <a:t>2. Hospital Module</a:t>
            </a:r>
          </a:p>
          <a:p>
            <a:pPr marL="0" indent="0">
              <a:buNone/>
            </a:pPr>
            <a:r>
              <a:rPr dirty="0"/>
              <a:t>3. Appointment Module</a:t>
            </a:r>
          </a:p>
          <a:p>
            <a:pPr marL="0" indent="0">
              <a:buNone/>
            </a:pPr>
            <a:r>
              <a:rPr dirty="0"/>
              <a:t>4. Admin Module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Description</a:t>
            </a:r>
          </a:p>
        </p:txBody>
      </p:sp>
      <p:sp>
        <p:nvSpPr>
          <p:cNvPr id="3" name="Content Placeholder 2"/>
          <p:cNvSpPr>
            <a:spLocks noGrp="1"/>
          </p:cNvSpPr>
          <p:nvPr>
            <p:ph idx="1"/>
          </p:nvPr>
        </p:nvSpPr>
        <p:spPr/>
        <p:txBody>
          <a:bodyPr/>
          <a:lstStyle/>
          <a:p>
            <a:pPr marL="0" indent="0">
              <a:buNone/>
            </a:pPr>
            <a:r>
              <a:rPr dirty="0"/>
              <a:t>• User Module: Allows users to register, log in, and book appointments.</a:t>
            </a:r>
          </a:p>
          <a:p>
            <a:pPr marL="0" indent="0">
              <a:buNone/>
            </a:pPr>
            <a:r>
              <a:rPr dirty="0"/>
              <a:t>• Hospital Module: Displays hospitals filtered by selected city.</a:t>
            </a:r>
          </a:p>
          <a:p>
            <a:pPr marL="0" indent="0">
              <a:buNone/>
            </a:pPr>
            <a:r>
              <a:rPr dirty="0"/>
              <a:t>• Appointment Module: Handles appointment booking, rescheduling, and cancellation.</a:t>
            </a:r>
          </a:p>
          <a:p>
            <a:pPr marL="0" indent="0">
              <a:buNone/>
            </a:pPr>
            <a:r>
              <a:rPr dirty="0"/>
              <a:t>• Admin Module: Manages hospital data, doctors, and user appointments.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 Output (Screenshot)</a:t>
            </a:r>
          </a:p>
        </p:txBody>
      </p:sp>
      <p:sp>
        <p:nvSpPr>
          <p:cNvPr id="3" name="Content Placeholder 2"/>
          <p:cNvSpPr>
            <a:spLocks noGrp="1"/>
          </p:cNvSpPr>
          <p:nvPr>
            <p:ph idx="1"/>
          </p:nvPr>
        </p:nvSpPr>
        <p:spPr>
          <a:xfrm>
            <a:off x="457200" y="1371600"/>
            <a:ext cx="8229600" cy="4525963"/>
          </a:xfrm>
        </p:spPr>
        <p:txBody>
          <a:bodyPr/>
          <a:lstStyle/>
          <a:p>
            <a:pPr marL="0" indent="0">
              <a:buNone/>
            </a:pPr>
            <a:r>
              <a:rPr dirty="0"/>
              <a:t>Screenshots of the web interface showing:</a:t>
            </a:r>
          </a:p>
          <a:p>
            <a:pPr marL="0" indent="0">
              <a:buNone/>
            </a:pPr>
            <a:r>
              <a:rPr dirty="0"/>
              <a:t>1. City selection page.</a:t>
            </a:r>
          </a:p>
        </p:txBody>
      </p:sp>
      <p:pic>
        <p:nvPicPr>
          <p:cNvPr id="5" name="Picture 4">
            <a:extLst>
              <a:ext uri="{FF2B5EF4-FFF2-40B4-BE49-F238E27FC236}">
                <a16:creationId xmlns:a16="http://schemas.microsoft.com/office/drawing/2014/main" id="{9BA19CB9-308F-D87E-377F-EBF9A98EC6F9}"/>
              </a:ext>
            </a:extLst>
          </p:cNvPr>
          <p:cNvPicPr>
            <a:picLocks noChangeAspect="1"/>
          </p:cNvPicPr>
          <p:nvPr/>
        </p:nvPicPr>
        <p:blipFill>
          <a:blip r:embed="rId2"/>
          <a:stretch>
            <a:fillRect/>
          </a:stretch>
        </p:blipFill>
        <p:spPr>
          <a:xfrm>
            <a:off x="1600200" y="2590800"/>
            <a:ext cx="6172200" cy="385641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577DC-0E99-F7B1-42A7-1E7E9241D3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04E9A5-DE55-F1F3-7AC9-00224D0F9850}"/>
              </a:ext>
            </a:extLst>
          </p:cNvPr>
          <p:cNvSpPr>
            <a:spLocks noGrp="1"/>
          </p:cNvSpPr>
          <p:nvPr>
            <p:ph type="title"/>
          </p:nvPr>
        </p:nvSpPr>
        <p:spPr/>
        <p:txBody>
          <a:bodyPr/>
          <a:lstStyle/>
          <a:p>
            <a:r>
              <a:rPr dirty="0"/>
              <a:t> Output (Screenshot)</a:t>
            </a:r>
          </a:p>
        </p:txBody>
      </p:sp>
      <p:sp>
        <p:nvSpPr>
          <p:cNvPr id="3" name="Content Placeholder 2">
            <a:extLst>
              <a:ext uri="{FF2B5EF4-FFF2-40B4-BE49-F238E27FC236}">
                <a16:creationId xmlns:a16="http://schemas.microsoft.com/office/drawing/2014/main" id="{35CB25D5-2390-4115-4FF2-ECF17206D51E}"/>
              </a:ext>
            </a:extLst>
          </p:cNvPr>
          <p:cNvSpPr>
            <a:spLocks noGrp="1"/>
          </p:cNvSpPr>
          <p:nvPr>
            <p:ph idx="1"/>
          </p:nvPr>
        </p:nvSpPr>
        <p:spPr/>
        <p:txBody>
          <a:bodyPr/>
          <a:lstStyle/>
          <a:p>
            <a:pPr marL="0" indent="0">
              <a:buNone/>
            </a:pPr>
            <a:r>
              <a:rPr dirty="0"/>
              <a:t>2. Filtered hospital list.</a:t>
            </a:r>
          </a:p>
          <a:p>
            <a:pPr marL="0" indent="0">
              <a:buNone/>
            </a:pPr>
            <a:endParaRPr dirty="0"/>
          </a:p>
        </p:txBody>
      </p:sp>
      <p:pic>
        <p:nvPicPr>
          <p:cNvPr id="5" name="Picture 4">
            <a:extLst>
              <a:ext uri="{FF2B5EF4-FFF2-40B4-BE49-F238E27FC236}">
                <a16:creationId xmlns:a16="http://schemas.microsoft.com/office/drawing/2014/main" id="{D1F01A91-B455-FC1F-9AE2-6279C6934CF4}"/>
              </a:ext>
            </a:extLst>
          </p:cNvPr>
          <p:cNvPicPr>
            <a:picLocks noChangeAspect="1"/>
          </p:cNvPicPr>
          <p:nvPr/>
        </p:nvPicPr>
        <p:blipFill>
          <a:blip r:embed="rId2"/>
          <a:stretch>
            <a:fillRect/>
          </a:stretch>
        </p:blipFill>
        <p:spPr>
          <a:xfrm>
            <a:off x="800100" y="2209800"/>
            <a:ext cx="7543800" cy="4298257"/>
          </a:xfrm>
          <a:prstGeom prst="rect">
            <a:avLst/>
          </a:prstGeom>
        </p:spPr>
      </p:pic>
    </p:spTree>
    <p:extLst>
      <p:ext uri="{BB962C8B-B14F-4D97-AF65-F5344CB8AC3E}">
        <p14:creationId xmlns:p14="http://schemas.microsoft.com/office/powerpoint/2010/main" val="2524574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4E306-B01B-792F-A992-884413E1C8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7F3CB-4196-3BDC-1A29-E2ECEE9AD596}"/>
              </a:ext>
            </a:extLst>
          </p:cNvPr>
          <p:cNvSpPr>
            <a:spLocks noGrp="1"/>
          </p:cNvSpPr>
          <p:nvPr>
            <p:ph type="title"/>
          </p:nvPr>
        </p:nvSpPr>
        <p:spPr/>
        <p:txBody>
          <a:bodyPr/>
          <a:lstStyle/>
          <a:p>
            <a:r>
              <a:rPr dirty="0"/>
              <a:t> Output (Screenshot)</a:t>
            </a:r>
          </a:p>
        </p:txBody>
      </p:sp>
      <p:sp>
        <p:nvSpPr>
          <p:cNvPr id="3" name="Content Placeholder 2">
            <a:extLst>
              <a:ext uri="{FF2B5EF4-FFF2-40B4-BE49-F238E27FC236}">
                <a16:creationId xmlns:a16="http://schemas.microsoft.com/office/drawing/2014/main" id="{E9D02D65-1177-9110-3F53-7F3C9B17A586}"/>
              </a:ext>
            </a:extLst>
          </p:cNvPr>
          <p:cNvSpPr>
            <a:spLocks noGrp="1"/>
          </p:cNvSpPr>
          <p:nvPr>
            <p:ph idx="1"/>
          </p:nvPr>
        </p:nvSpPr>
        <p:spPr/>
        <p:txBody>
          <a:bodyPr/>
          <a:lstStyle/>
          <a:p>
            <a:pPr marL="0" indent="0">
              <a:buNone/>
            </a:pPr>
            <a:r>
              <a:rPr dirty="0"/>
              <a:t>3. Appointment booking form.</a:t>
            </a:r>
          </a:p>
          <a:p>
            <a:pPr marL="0" indent="0">
              <a:buNone/>
            </a:pPr>
            <a:endParaRPr dirty="0"/>
          </a:p>
        </p:txBody>
      </p:sp>
      <p:pic>
        <p:nvPicPr>
          <p:cNvPr id="5" name="Picture 4">
            <a:extLst>
              <a:ext uri="{FF2B5EF4-FFF2-40B4-BE49-F238E27FC236}">
                <a16:creationId xmlns:a16="http://schemas.microsoft.com/office/drawing/2014/main" id="{0DB921CA-F447-9BE1-F7EC-B77F48E510DA}"/>
              </a:ext>
            </a:extLst>
          </p:cNvPr>
          <p:cNvPicPr>
            <a:picLocks noChangeAspect="1"/>
          </p:cNvPicPr>
          <p:nvPr/>
        </p:nvPicPr>
        <p:blipFill>
          <a:blip r:embed="rId2"/>
          <a:stretch>
            <a:fillRect/>
          </a:stretch>
        </p:blipFill>
        <p:spPr>
          <a:xfrm>
            <a:off x="914400" y="2161317"/>
            <a:ext cx="7315200" cy="4217914"/>
          </a:xfrm>
          <a:prstGeom prst="rect">
            <a:avLst/>
          </a:prstGeom>
        </p:spPr>
      </p:pic>
    </p:spTree>
    <p:extLst>
      <p:ext uri="{BB962C8B-B14F-4D97-AF65-F5344CB8AC3E}">
        <p14:creationId xmlns:p14="http://schemas.microsoft.com/office/powerpoint/2010/main" val="4496176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DBDB5-E666-2167-BC1F-9EB42EF696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C65798-60B6-E195-10D0-1C7C4402D8B7}"/>
              </a:ext>
            </a:extLst>
          </p:cNvPr>
          <p:cNvSpPr>
            <a:spLocks noGrp="1"/>
          </p:cNvSpPr>
          <p:nvPr>
            <p:ph type="title"/>
          </p:nvPr>
        </p:nvSpPr>
        <p:spPr/>
        <p:txBody>
          <a:bodyPr/>
          <a:lstStyle/>
          <a:p>
            <a:r>
              <a:rPr lang="en-IN" dirty="0"/>
              <a:t> </a:t>
            </a:r>
            <a:r>
              <a:rPr dirty="0"/>
              <a:t>Output (Screenshot)</a:t>
            </a:r>
          </a:p>
        </p:txBody>
      </p:sp>
      <p:sp>
        <p:nvSpPr>
          <p:cNvPr id="3" name="Content Placeholder 2">
            <a:extLst>
              <a:ext uri="{FF2B5EF4-FFF2-40B4-BE49-F238E27FC236}">
                <a16:creationId xmlns:a16="http://schemas.microsoft.com/office/drawing/2014/main" id="{7492DA6C-5B96-F15A-9E37-F0888234FC69}"/>
              </a:ext>
            </a:extLst>
          </p:cNvPr>
          <p:cNvSpPr>
            <a:spLocks noGrp="1"/>
          </p:cNvSpPr>
          <p:nvPr>
            <p:ph idx="1"/>
          </p:nvPr>
        </p:nvSpPr>
        <p:spPr>
          <a:xfrm>
            <a:off x="457200" y="1447800"/>
            <a:ext cx="8229600" cy="4525963"/>
          </a:xfrm>
        </p:spPr>
        <p:txBody>
          <a:bodyPr/>
          <a:lstStyle/>
          <a:p>
            <a:pPr marL="0" indent="0">
              <a:buNone/>
            </a:pPr>
            <a:r>
              <a:rPr dirty="0"/>
              <a:t>4. Appointment confirmation message.</a:t>
            </a:r>
          </a:p>
        </p:txBody>
      </p:sp>
      <p:pic>
        <p:nvPicPr>
          <p:cNvPr id="5" name="Picture 4">
            <a:extLst>
              <a:ext uri="{FF2B5EF4-FFF2-40B4-BE49-F238E27FC236}">
                <a16:creationId xmlns:a16="http://schemas.microsoft.com/office/drawing/2014/main" id="{4CBA08BD-9F81-E384-54D8-0D219709B19B}"/>
              </a:ext>
            </a:extLst>
          </p:cNvPr>
          <p:cNvPicPr>
            <a:picLocks noChangeAspect="1"/>
          </p:cNvPicPr>
          <p:nvPr/>
        </p:nvPicPr>
        <p:blipFill>
          <a:blip r:embed="rId2"/>
          <a:stretch>
            <a:fillRect/>
          </a:stretch>
        </p:blipFill>
        <p:spPr>
          <a:xfrm>
            <a:off x="1257300" y="2133600"/>
            <a:ext cx="6629400" cy="4422678"/>
          </a:xfrm>
          <a:prstGeom prst="rect">
            <a:avLst/>
          </a:prstGeom>
        </p:spPr>
      </p:pic>
    </p:spTree>
    <p:extLst>
      <p:ext uri="{BB962C8B-B14F-4D97-AF65-F5344CB8AC3E}">
        <p14:creationId xmlns:p14="http://schemas.microsoft.com/office/powerpoint/2010/main" val="3043305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369FB-CD6D-C798-F4D1-A1D5C74884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EDEF94-66EA-FE35-D822-C29DAF4FCDFC}"/>
              </a:ext>
            </a:extLst>
          </p:cNvPr>
          <p:cNvSpPr>
            <a:spLocks noGrp="1"/>
          </p:cNvSpPr>
          <p:nvPr>
            <p:ph type="title"/>
          </p:nvPr>
        </p:nvSpPr>
        <p:spPr/>
        <p:txBody>
          <a:bodyPr>
            <a:normAutofit/>
          </a:bodyPr>
          <a:lstStyle/>
          <a:p>
            <a:r>
              <a:rPr lang="en-IN" dirty="0"/>
              <a:t> SYSTEM ARCHITECTURE</a:t>
            </a:r>
            <a:endParaRPr dirty="0"/>
          </a:p>
        </p:txBody>
      </p:sp>
      <p:pic>
        <p:nvPicPr>
          <p:cNvPr id="6" name="Picture 5">
            <a:extLst>
              <a:ext uri="{FF2B5EF4-FFF2-40B4-BE49-F238E27FC236}">
                <a16:creationId xmlns:a16="http://schemas.microsoft.com/office/drawing/2014/main" id="{1A0374A1-4064-3E7E-34B2-C5F34F9DD4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371600"/>
            <a:ext cx="6096000" cy="4993532"/>
          </a:xfrm>
          <a:prstGeom prst="rect">
            <a:avLst/>
          </a:prstGeom>
        </p:spPr>
      </p:pic>
    </p:spTree>
    <p:extLst>
      <p:ext uri="{BB962C8B-B14F-4D97-AF65-F5344CB8AC3E}">
        <p14:creationId xmlns:p14="http://schemas.microsoft.com/office/powerpoint/2010/main" val="4015171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Hospital Appointment Booking System provides an efficient, automated solution for managing patient appointments. By allowing city-based filtering and real-time scheduling, it simplifies hospital management, improves patient satisfaction, and supports a smarter healthcare system.</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TotalTime>
  <Words>542</Words>
  <Application>Microsoft Office PowerPoint</Application>
  <PresentationFormat>On-screen Show (4:3)</PresentationFormat>
  <Paragraphs>85</Paragraphs>
  <Slides>17</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Custom Design</vt:lpstr>
      <vt:lpstr>  </vt:lpstr>
      <vt:lpstr>AGENDA</vt:lpstr>
      <vt:lpstr>Abstract</vt:lpstr>
      <vt:lpstr>Existing System</vt:lpstr>
      <vt:lpstr>Proposed System</vt:lpstr>
      <vt:lpstr>Advantages</vt:lpstr>
      <vt:lpstr>Disadvantages</vt:lpstr>
      <vt:lpstr>Hardware Requirements</vt:lpstr>
      <vt:lpstr>Software Requirements</vt:lpstr>
      <vt:lpstr>Modules</vt:lpstr>
      <vt:lpstr>Module Description</vt:lpstr>
      <vt:lpstr> Output (Screenshot)</vt:lpstr>
      <vt:lpstr> Output (Screenshot)</vt:lpstr>
      <vt:lpstr> Output (Screenshot)</vt:lpstr>
      <vt:lpstr> Output (Screenshot)</vt:lpstr>
      <vt:lpstr> SYSTEM ARCHITECTURE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Sanjana V</cp:lastModifiedBy>
  <cp:revision>116</cp:revision>
  <dcterms:created xsi:type="dcterms:W3CDTF">2019-11-06T07:48:00Z</dcterms:created>
  <dcterms:modified xsi:type="dcterms:W3CDTF">2025-12-18T06:03:45Z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26C965DCC8F94B56AF33BB737A8A4E09_13</vt:lpwstr>
  </property>
  <property fmtid="{D5CDD505-2E9C-101B-9397-08002B2CF9AE}" pid="3" name="KSOProductBuildVer">
    <vt:lpwstr>1033-12.2.0.22549</vt:lpwstr>
  </property>
</Properties>
</file>